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fd01f4ab14806" /><Relationship Type="http://schemas.openxmlformats.org/officeDocument/2006/relationships/extended-properties" Target="/docProps/app.xml" Id="Red9043e3385a468f" /><Relationship Type="http://schemas.openxmlformats.org/officeDocument/2006/relationships/officeDocument" Target="/ppt/presentation.xml" Id="R5d03655e051f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ec856f38e4c05"/>
  </p:sldMasterIdLst>
  <p:notesMasterIdLst>
    <p:notesMasterId xmlns:r="http://schemas.openxmlformats.org/officeDocument/2006/relationships" r:id="R33a0335fa31a4e44"/>
  </p:notesMasterIdLst>
  <p:sldIdLst>
    <p:sldId xmlns:r="http://schemas.openxmlformats.org/officeDocument/2006/relationships" id="256" r:id="R668fc723701f4e66"/>
    <p:sldId xmlns:r="http://schemas.openxmlformats.org/officeDocument/2006/relationships" id="257" r:id="R05e658aa6701418e"/>
    <p:sldId xmlns:r="http://schemas.openxmlformats.org/officeDocument/2006/relationships" id="258" r:id="Rb9f8043b8ebd4b53"/>
    <p:sldId xmlns:r="http://schemas.openxmlformats.org/officeDocument/2006/relationships" id="259" r:id="R793f3d14db6c4651"/>
    <p:sldId xmlns:r="http://schemas.openxmlformats.org/officeDocument/2006/relationships" id="260" r:id="R106280b5d7954aa4"/>
    <p:sldId xmlns:r="http://schemas.openxmlformats.org/officeDocument/2006/relationships" id="261" r:id="R9fe71fe39e514932"/>
    <p:sldId xmlns:r="http://schemas.openxmlformats.org/officeDocument/2006/relationships" id="262" r:id="R0bb511e7ad55498a"/>
    <p:sldId xmlns:r="http://schemas.openxmlformats.org/officeDocument/2006/relationships" id="263" r:id="R08406147a79b4e3f"/>
    <p:sldId xmlns:r="http://schemas.openxmlformats.org/officeDocument/2006/relationships" id="264" r:id="R34bee333b935455a"/>
    <p:sldId xmlns:r="http://schemas.openxmlformats.org/officeDocument/2006/relationships" id="265" r:id="Rbab2d6a8543f4a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ec856f38e4c05" /><Relationship Type="http://schemas.openxmlformats.org/officeDocument/2006/relationships/theme" Target="/ppt/theme/theme1.xml" Id="Raeafcc85e5d846bb" /><Relationship Type="http://schemas.openxmlformats.org/officeDocument/2006/relationships/notesMaster" Target="/ppt/notesMasters/notesMaster1.xml" Id="R33a0335fa31a4e44" /><Relationship Type="http://schemas.openxmlformats.org/officeDocument/2006/relationships/presProps" Target="/ppt/presProps.xml" Id="Rc46c09d758934e6f" /><Relationship Type="http://schemas.openxmlformats.org/officeDocument/2006/relationships/viewProps" Target="/ppt/viewProps.xml" Id="Rc38a281dc3a54ced" /><Relationship Type="http://schemas.openxmlformats.org/officeDocument/2006/relationships/tableStyles" Target="/ppt/tableStyles.xml" Id="R41144d4ba2ec496e" /><Relationship Type="http://schemas.openxmlformats.org/officeDocument/2006/relationships/slide" Target="/ppt/slides/slide1.xml" Id="R668fc723701f4e66" /><Relationship Type="http://schemas.openxmlformats.org/officeDocument/2006/relationships/slide" Target="/ppt/slides/slide2.xml" Id="R05e658aa6701418e" /><Relationship Type="http://schemas.openxmlformats.org/officeDocument/2006/relationships/slide" Target="/ppt/slides/slide3.xml" Id="Rb9f8043b8ebd4b53" /><Relationship Type="http://schemas.openxmlformats.org/officeDocument/2006/relationships/slide" Target="/ppt/slides/slide4.xml" Id="R793f3d14db6c4651" /><Relationship Type="http://schemas.openxmlformats.org/officeDocument/2006/relationships/slide" Target="/ppt/slides/slide5.xml" Id="R106280b5d7954aa4" /><Relationship Type="http://schemas.openxmlformats.org/officeDocument/2006/relationships/slide" Target="/ppt/slides/slide6.xml" Id="R9fe71fe39e514932" /><Relationship Type="http://schemas.openxmlformats.org/officeDocument/2006/relationships/slide" Target="/ppt/slides/slide7.xml" Id="R0bb511e7ad55498a" /><Relationship Type="http://schemas.openxmlformats.org/officeDocument/2006/relationships/slide" Target="/ppt/slides/slide8.xml" Id="R08406147a79b4e3f" /><Relationship Type="http://schemas.openxmlformats.org/officeDocument/2006/relationships/slide" Target="/ppt/slides/slide9.xml" Id="R34bee333b935455a" /><Relationship Type="http://schemas.openxmlformats.org/officeDocument/2006/relationships/slide" Target="/ppt/slides/slide10.xml" Id="Rbab2d6a8543f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3ddf3190784b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de392d59948f2" /><Relationship Type="http://schemas.openxmlformats.org/officeDocument/2006/relationships/notesMaster" Target="/ppt/notesMasters/notesMaster1.xml" Id="R1835abc31a72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6ed6896d74630" /><Relationship Type="http://schemas.openxmlformats.org/officeDocument/2006/relationships/notesMaster" Target="/ppt/notesMasters/notesMaster1.xml" Id="Re5b29897bf1e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fb4f78ab040b3" /><Relationship Type="http://schemas.openxmlformats.org/officeDocument/2006/relationships/notesMaster" Target="/ppt/notesMasters/notesMaster1.xml" Id="R278ce4dba10541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a704059f824d6d" /><Relationship Type="http://schemas.openxmlformats.org/officeDocument/2006/relationships/notesMaster" Target="/ppt/notesMasters/notesMaster1.xml" Id="Rd893371e8f78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93893b0f6c4802" /><Relationship Type="http://schemas.openxmlformats.org/officeDocument/2006/relationships/notesMaster" Target="/ppt/notesMasters/notesMaster1.xml" Id="R7f998115c78240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8b6483f4c4863" /><Relationship Type="http://schemas.openxmlformats.org/officeDocument/2006/relationships/notesMaster" Target="/ppt/notesMasters/notesMaster1.xml" Id="R6bdd473b1d6641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3d159a64544b01" /><Relationship Type="http://schemas.openxmlformats.org/officeDocument/2006/relationships/notesMaster" Target="/ppt/notesMasters/notesMaster1.xml" Id="Ra42757503fe84f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3b5e29c424962" /><Relationship Type="http://schemas.openxmlformats.org/officeDocument/2006/relationships/notesMaster" Target="/ppt/notesMasters/notesMaster1.xml" Id="R277b0d42595746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eaa49b256b4800" /><Relationship Type="http://schemas.openxmlformats.org/officeDocument/2006/relationships/notesMaster" Target="/ppt/notesMasters/notesMaster1.xml" Id="Re357a0069b4548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8c7f5b185f4ffd" /><Relationship Type="http://schemas.openxmlformats.org/officeDocument/2006/relationships/notesMaster" Target="/ppt/notesMasters/notesMaster1.xml" Id="Rd0d7d5d348a4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c86def1b84cf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0e84c6629342c0" /><Relationship Type="http://schemas.openxmlformats.org/officeDocument/2006/relationships/slideLayout" Target="/ppt/slideLayouts/slideLayout2.xml" Id="R0299fef10c74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9fef10c74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394539d4e4de5" /><Relationship Type="http://schemas.openxmlformats.org/officeDocument/2006/relationships/notesSlide" Target="/ppt/notesSlides/notesSlide1.xml" Id="Rf0a26a3f2c10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eb40d389e4695" /><Relationship Type="http://schemas.openxmlformats.org/officeDocument/2006/relationships/image" Target="/ppt/media/image.png" Id="R2ce0f947ca704023" /><Relationship Type="http://schemas.openxmlformats.org/officeDocument/2006/relationships/image" Target="/ppt/media/image.svg" Id="R50636f10bbdd4ec2" /><Relationship Type="http://schemas.openxmlformats.org/officeDocument/2006/relationships/image" Target="/ppt/media/image2.png" Id="Rd3950378e0f64719" /><Relationship Type="http://schemas.openxmlformats.org/officeDocument/2006/relationships/image" Target="/ppt/media/image2.svg" Id="R064777e5e42945d1" /><Relationship Type="http://schemas.openxmlformats.org/officeDocument/2006/relationships/image" Target="/ppt/media/image3.png" Id="R65d1cf8aed9f4771" /><Relationship Type="http://schemas.openxmlformats.org/officeDocument/2006/relationships/image" Target="/ppt/media/image3.svg" Id="R3f6e129b420e49cd" /><Relationship Type="http://schemas.openxmlformats.org/officeDocument/2006/relationships/notesSlide" Target="/ppt/notesSlides/notesSlide2.xml" Id="R471c1ba34dde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95d4a623649a4" /><Relationship Type="http://schemas.openxmlformats.org/officeDocument/2006/relationships/notesSlide" Target="/ppt/notesSlides/notesSlide3.xml" Id="Rfdee91ea6199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b644e4a4234b96" /><Relationship Type="http://schemas.openxmlformats.org/officeDocument/2006/relationships/notesSlide" Target="/ppt/notesSlides/notesSlide4.xml" Id="R6c0e4491acb740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18d8fa9f448c4" /><Relationship Type="http://schemas.openxmlformats.org/officeDocument/2006/relationships/notesSlide" Target="/ppt/notesSlides/notesSlide5.xml" Id="R08787e82a8c347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e4487ed704d36" /><Relationship Type="http://schemas.openxmlformats.org/officeDocument/2006/relationships/notesSlide" Target="/ppt/notesSlides/notesSlide6.xml" Id="R05181cd4de9944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fadfb42d7457c" /><Relationship Type="http://schemas.openxmlformats.org/officeDocument/2006/relationships/notesSlide" Target="/ppt/notesSlides/notesSlide7.xml" Id="R18e4b4e5b60e47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a9215f8c749b3" /><Relationship Type="http://schemas.openxmlformats.org/officeDocument/2006/relationships/notesSlide" Target="/ppt/notesSlides/notesSlide8.xml" Id="R8c3098dcd5fa43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871774fb324dac" /><Relationship Type="http://schemas.openxmlformats.org/officeDocument/2006/relationships/notesSlide" Target="/ppt/notesSlides/notesSlide9.xml" Id="R7794ec4db94e4e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fca9150684fbe" /><Relationship Type="http://schemas.openxmlformats.org/officeDocument/2006/relationships/notesSlide" Target="/ppt/notesSlides/notesSlide10.xml" Id="R81cffab6873342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A8A1A-9193-412E-B157-A4785A8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CDE3-6321-42E2-9406-AD60FB0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1BEDF-5F76-4019-8ED8-4150E50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0EDD5-9A4F-4C23-9716-74A4E4C4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E7E19-F849-4077-AAB0-0410431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A8AAE-7FF3-4F37-8C04-3611A5EF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F24C-E8EF-479D-9953-5F844F4C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4037"/>
                </a:solidFill>
                <a:latin typeface="Aptos"/>
                <a:ea typeface="Aptos"/>
                <a:cs typeface="Aptos"/>
              </a:rPr>
              <a:t>NLP FOR BUSINESS AND FINANCE PROJECT COURSE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D47E6-CD94-48BB-A513-E9096EA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90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AI Supported role</a:t>
            </a:r>
          </a:p>
          <a:p xmlns:a="http://schemas.openxmlformats.org/drawingml/2006/main">
            <a:pPr algn="l">
              <a:def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play for solid waste</a:t>
            </a:r>
          </a:p>
          <a:p xmlns:a="http://schemas.openxmlformats.org/drawingml/2006/main">
            <a:pPr algn="l">
              <a:def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B1961-24C9-46D8-848F-460228ED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103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7F3D"/>
                </a:solidFill>
                <a:latin typeface="Aptos"/>
                <a:ea typeface="Aptos"/>
                <a:cs typeface="Aptos"/>
              </a:rPr>
              <a:t>USI × Eawag / Sandec · May 2026 · Francesca Cereda, Luigi Marmolaro, &amp; Sylvia Betteridge</a:t>
            </a:r>
          </a:p>
        </p:txBody>
      </p:sp>
    </p:spTree>
    <p:extLst>
      <p:ext uri="{BB962C8B-B14F-4D97-AF65-F5344CB8AC3E}">
        <p14:creationId xmlns:p14="http://schemas.microsoft.com/office/powerpoint/2010/main" val="19093948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33AA3-EDBD-4ECF-8913-72D7E7C3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3F5D3-CE02-49D9-AD9F-01CDFED5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BD335-3E83-463D-80BF-BBA72D4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0EA6F-50AE-4402-B977-DEC119B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90DFE-A6F7-4F5E-88AC-19D68C5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DECF3-B185-4DDE-843B-0DE99381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99AF1-4DC3-4AB3-BC65-5B0E49D5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AI project for SWM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CEFAB-77AE-475E-AB35-C55F47C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6250"/>
            <a:ext cx="2647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F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C6277-A436-4BB1-9D86-3D36604C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0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63186-4962-42A3-A350-99A42A29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90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0f947ca704023">
            <a:extLst>
              <a:ext uri="{96DAC541-7B7A-43D3-8B79-37D633B846F1}">
                <asvg:svgBlip xmlns:asvg="http://schemas.microsoft.com/office/drawing/2016/SVG/main" r:embed="R50636f10bbdd4e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2457450"/>
            <a:ext cx="838200" cy="8382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50378e0f64719">
            <a:extLst>
              <a:ext uri="{96DAC541-7B7A-43D3-8B79-37D633B846F1}">
                <asvg:svgBlip xmlns:asvg="http://schemas.microsoft.com/office/drawing/2016/SVG/main" r:embed="R064777e5e42945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0" y="2457450"/>
            <a:ext cx="838200" cy="8382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1cf8aed9f4771">
            <a:extLst>
              <a:ext uri="{96DAC541-7B7A-43D3-8B79-37D633B846F1}">
                <asvg:svgBlip xmlns:asvg="http://schemas.microsoft.com/office/drawing/2016/SVG/main" r:embed="R3f6e129b420e49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0" y="2457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2573B-CE77-464F-932E-709DF21D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E1FC3-7CCF-4BE5-9D0A-3525AA3C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9433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STAKEHOLDERS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22461-7A2B-449C-A40B-3EACB9E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433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AI LEARNING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2139F-28D9-4AB9-A898-D685F48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2E6B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5F466-D8AD-4233-A9EB-D4C6E6DF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E0786-8406-4ADA-9612-3214B91F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2647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billion people lack reliable waste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Many cities in low- and middle-income contexts face landfill overflow, polluted water, public health risks, and fragmented service systems.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B942F-BC77-42EC-928E-1038A186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2E6B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1509E-AD5D-4255-902A-FD55F70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339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97B82-05F5-47BA-B29E-A99FDD4A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334000"/>
            <a:ext cx="2647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SWM decisions involve public authorities, private operators, informal workers, civil society, and affected communities. These actors have unequal power, conflicting incentives, and asymmetric information.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C6137-7838-4B2E-957A-ACFB3F7E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3143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2E6B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8EC45-D7ED-46D3-92E6-8B8B7F4D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339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B2E4A-2F27-41E3-B198-9B6DE61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34000"/>
            <a:ext cx="2647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Role-play is a strong format for learning negotiation and systems thinking, but there are very few AI-supported educational tools for SWM.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project addresses that gap.</a:t>
            </a:r>
          </a:p>
        </p:txBody>
      </p:sp>
    </p:spTree>
    <p:extLst>
      <p:ext uri="{BB962C8B-B14F-4D97-AF65-F5344CB8AC3E}">
        <p14:creationId xmlns:p14="http://schemas.microsoft.com/office/powerpoint/2010/main" val="16906625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B9845-6D88-4A06-B398-8225F29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0C184-6763-4FC3-8C6D-D922F64B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1F6AC-726A-462B-9063-44BC661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01D21-E18F-4AE8-8D8A-97CD9C0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A148E-71D4-4183-89B6-19834059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F1E2-4EF7-4FBC-9E32-34062248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0E947-260E-4048-8ECE-DE68427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Designing the game 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1739C-1161-4BFC-BD6B-6C6F888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GAME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612B5-0D73-442F-B3E3-16B3E310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666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Single-player negotiation role-play with AI-supported stakeholders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Scenario based on anonymized realistic urban waste-management tensions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6 stakeholders with distinct goals, leverage, hidden information, and constraints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Player chooses one role and negotiates with the others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Three core phases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   ◦ Opening positions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   ◦ Proposal building and negotiation</a:t>
            </a:r>
          </a:p>
          <a:p xmlns:a="http://schemas.openxmlformats.org/drawingml/2006/main">
            <a:pPr algn="l">
              <a:defRPr sz="1575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   ◦ Final vote and educational debrief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49596-716B-43FA-BBA5-5047493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389" y="2461260"/>
            <a:ext cx="278892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594C9-8F71-43B9-BBF8-69937EDC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066800"/>
            <a:ext cx="1743075" cy="127825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FAE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F0EE9-2A87-456C-96DE-39347F0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835" y="2228850"/>
            <a:ext cx="1743075" cy="127825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48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4D550-6D86-4EAE-B5D8-F6B39DA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015" y="3449003"/>
            <a:ext cx="1103948" cy="81343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AA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E77AA-3EA8-4F21-B8E8-445F9E32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220" y="2205609"/>
            <a:ext cx="209169" cy="1394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3B804-868E-49DF-B7F8-54EB79B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522" y="3019044"/>
            <a:ext cx="1394460" cy="209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E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D0DD6-FF73-45AA-8FFE-B46080B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456" y="3863340"/>
            <a:ext cx="201168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0BE10-58D7-40EA-802B-A2209B6B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0"/>
            <a:ext cx="1257300" cy="92202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FAE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22314-2926-47CB-B283-F0D3499F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040" y="3695700"/>
            <a:ext cx="1257300" cy="92202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48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AADF4-7E8F-4269-9EE2-36E13ACB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4575810"/>
            <a:ext cx="796290" cy="58674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AA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78808-9965-4817-9363-C912C9D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8580" y="3678936"/>
            <a:ext cx="15087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984B3-ACE6-4CEB-B29D-1DE19F2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388" y="4265676"/>
            <a:ext cx="1005840" cy="150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E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D659B-5C34-4423-A28F-D78DAC82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794" y="5185410"/>
            <a:ext cx="141732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BDCD5-BD42-47CF-B5BC-0C9C8C5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885825" cy="64960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4FAE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C645A-8F25-40DC-8D53-F2D2E0E2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660" y="5067300"/>
            <a:ext cx="885825" cy="64960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48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AE9C2-D398-43AA-A41A-4C21C55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5687378"/>
            <a:ext cx="561023" cy="41338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AA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DCC7E-FF59-4509-9CDF-2966AC46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495" y="5055489"/>
            <a:ext cx="106299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B0689-BC05-4145-9D9E-34144C90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337" y="5468874"/>
            <a:ext cx="708660" cy="106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7E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5F4A9-9879-494F-B187-C52F9423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design goal is not only to simulate conversation, but to make tradeoffs, power asymmetries, and coalition-building visible.</a:t>
            </a:r>
          </a:p>
        </p:txBody>
      </p:sp>
    </p:spTree>
    <p:extLst>
      <p:ext uri="{BB962C8B-B14F-4D97-AF65-F5344CB8AC3E}">
        <p14:creationId xmlns:p14="http://schemas.microsoft.com/office/powerpoint/2010/main" val="8605343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C73639-7E1B-4551-B4C0-35D9F152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5ABD2-F3CB-4C1B-9534-6E0B929C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D4B15-395E-4519-AA4E-6BFE8FA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5DEDA-AE87-4CF2-AF93-595512AB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9C8-EDD9-4923-8CA6-4DBB089C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C3446-C72E-47C8-A79C-450A95E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94472-A474-4ED8-9BFB-5292B24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90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6 Stakeholders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F7290-F703-4084-896C-7DCFAAF1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D4037"/>
                </a:solidFill>
                <a:latin typeface="Aptos"/>
                <a:ea typeface="Aptos"/>
                <a:cs typeface="Aptos"/>
              </a:rPr>
              <a:t>ROLE DESIGN</a:t>
            </a:r>
          </a:p>
        </p:txBody>
      </p:sp>
    </p:spTree>
    <p:extLst>
      <p:ext uri="{BB962C8B-B14F-4D97-AF65-F5344CB8AC3E}">
        <p14:creationId xmlns:p14="http://schemas.microsoft.com/office/powerpoint/2010/main" val="1363479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4CF62-DB3B-4950-883A-3E1154C4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58418-4F4F-4198-A8EA-225D546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4A949-97CE-49A8-B307-5244BDE6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C65E0-B112-46CB-9D4A-66A9B09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8AEC-2D3C-42DF-BC8C-88065105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6469A-390F-4DC1-9182-CA9FB2EA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ED2DE-748B-462E-88E9-9D05EA2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Stakeholder roles and</a:t>
            </a:r>
          </a:p>
          <a:p xmlns:a="http://schemas.openxmlformats.org/drawingml/2006/main">
            <a:pPr algn="l">
              <a:defRPr sz="42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negotiation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EEAA7-E06D-4ECF-B113-3A7B6F4B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47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Each role combines public position, private constraints, leverage, and red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0FD7C-D1B4-4AA5-9CB8-1E71456D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056CC-A7DB-4D6E-8F45-4F3E57D5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676C1-21C5-4869-BEBD-1DB81B3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National Government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31E0C-801E-4A8B-AD4B-B1D1E02F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Long-term infrastructure logic, budget framing, and policy legitimacy.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CF98D-6998-46AE-A782-471AFFE5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AECA9-43D4-4F85-A8E4-90292E8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FCA2A-A57D-4F28-8F75-007B254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Municipal Government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66E25-A857-4D0C-91AD-0509B4F9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Local implementation pressure, service continuity, and political accountability.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A2B20-5298-4D22-911C-33998E30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D9326-79C6-45ED-AE8B-C67E29F7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AF4D8-6E1A-48A1-8F2F-2000E9FA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Private Sector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EA6EB-1FE3-4FFD-99F1-A1A2AE0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Operational efficiency, contract incentives, and control over recyclables.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F529D-CA4D-4B8E-A10F-D94CB69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47BA8-BA69-415E-8F9E-2D61B5D3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A8AC2-202C-4BEA-85CC-A415355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NGO / Civil Society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8D963-12B5-4AF2-97BC-39D7C69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Environmental justice, transparency, and public-interest pressure.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337BD-D659-429E-B442-8B1DE02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07872-7416-42C9-89E7-90E6318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5F87F-EA32-4B54-AF92-06ABC54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Community Leader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19354-EC38-4EFC-BA5F-4F746B3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Resident wellbeing, local legitimacy, and trust-building across the 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D5A48-15A2-4DAB-ADD7-6FB638B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482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D3146E-C168-4515-AEF8-0E303683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48250"/>
            <a:ext cx="1333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191295-7456-474A-A1EE-16640087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Informal Sector Worker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41FA7-C286-46C3-AC2E-DE7897A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76900"/>
            <a:ext cx="535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Livelihood protection, access to materials, and exclusion risk.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1C247-0947-4C45-AE1E-43D27D41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Each stakeholder is designed with a public role card plus hidden information that shapes negotiation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12745273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94518-DD43-4F92-AA59-5FA0C2B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F75D1-8F67-45B2-864F-3B8AB9C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D6DD5-B999-4DC7-BA9D-712F046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98EB-7691-4FB5-84AB-D3F1F70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BB890-E687-4349-8E16-7190FF4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EBD5-0D17-4067-ACE7-C11B6E4A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CFDE8-87B8-4A42-B424-32F56BD2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AI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BF46F-4D8C-40E4-96EB-41BB31AD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SDIALOG TOOLKIT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6328B-BA30-4F98-A109-50B067D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Foundation: Dialog / Turn / Event</a:t>
            </a:r>
          </a:p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Scenario: roleplay.py</a:t>
            </a:r>
          </a:p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Agents: agents.py + util.py</a:t>
            </a:r>
          </a:p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Engine: roleplay_engine.py</a:t>
            </a:r>
          </a:p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UI: Streamlit interface</a:t>
            </a:r>
          </a:p>
          <a:p xmlns:a="http://schemas.openxmlformats.org/drawingml/2006/main">
            <a:pPr algn="l">
              <a:defRPr sz="1350" b="0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F2B25"/>
                </a:solidFill>
                <a:latin typeface="Aptos"/>
                <a:ea typeface="Aptos"/>
                <a:cs typeface="Aptos"/>
              </a:rPr>
              <a:t>• Extensions: evaluation / audio / interpretability / orchestrators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1AAEA-5077-4C2C-9F3E-989AC9F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906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B43D9-B65E-4BD0-BFF0-D8AF4DB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90650"/>
            <a:ext cx="1143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B6625-EB04-48B1-919E-045C37C8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562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AB07E-4C7D-4193-90E6-7CB250B0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859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Dialog / Turn / Event hold transcript state, metadata, and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BF551-07D6-43B1-93F1-1396B78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906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C478A-DCA2-454B-97E8-4CE4D638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90650"/>
            <a:ext cx="1143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7E712-2B90-4E0B-9676-4A07C097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C9582-863B-4C19-8EE3-C54DF809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roleplay.py loads scenario packs, hidden rules, and stakeholder definitions.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E389D-0D2C-4BC1-8B97-2C521C7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2640E-26B5-4A40-B8B1-EEA039E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6F58E-48CA-4F93-81F5-68E82878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F0F35-ADE3-412A-9908-770C1D8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agents.py wraps persona prompts around the selected model backend and manages AI stakeholder responses.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9686A-DB3D-4AB8-B05A-14FBAFE7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A1623-02C5-4D9B-B3CC-51A901EA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295CC-5ABE-4A8A-8845-E82EC1D9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4958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81234-7820-4AA6-8629-C45ABD78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196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roleplay_engine.py manages rounds, proposals, amendments, votes, and outcomes.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656A9-53F1-4EA6-9F2B-F4E59349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76C4A-9538-4AAB-980D-42C07223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1143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1C42F-3FEF-49E5-B370-BB523F9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958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0281D-3C38-48A6-B1BC-5FD01D1F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96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Streamlit renders setup, negotiation screens, votes, outcomes, and transcript export.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A7C22-8AA6-49A6-AFDD-AB226550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245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B7664-D0B9-4D29-8225-75572D7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579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Recommended cloud backend: vertexai:gemini-2.5-flash-lite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BFA9C9-8530-46B1-9F30-8C426763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Scenario data defines the world, agents generate stakeholder behavior, and the engine makes the negotiation progress in a controlled way.</a:t>
            </a:r>
          </a:p>
        </p:txBody>
      </p:sp>
    </p:spTree>
    <p:extLst>
      <p:ext uri="{BB962C8B-B14F-4D97-AF65-F5344CB8AC3E}">
        <p14:creationId xmlns:p14="http://schemas.microsoft.com/office/powerpoint/2010/main" val="1757315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60F25-1574-4B90-9D75-70B46A7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E8034-B238-46C2-92C8-6547868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AAC1A-8A9E-491C-8D11-D5A90B3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DA13F-69C3-4B75-BBA7-E62736F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431E9-6FF4-4C78-A62B-414DB83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6449C-84EB-43AC-A749-C1E2C6F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AD7D3-3951-4B1B-B3B1-027AB6E9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The game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73F05-F223-4A21-A19C-5BB10D5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40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4037"/>
                </a:solidFill>
                <a:latin typeface="Aptos"/>
                <a:ea typeface="Aptos"/>
                <a:cs typeface="Aptos"/>
              </a:rPr>
              <a:t>CURRENT PLAYABLE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50D06-951A-4E1E-9247-815E3B4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8A370-DA30-428C-8E8E-DDFFDDE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10832-7AC2-4F8A-839F-F6412C0B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ED02F-D608-476D-A2AE-2AE84A0B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Setup and role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17103-00FC-43B7-99B1-F9C430E0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576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player chooses a stakeholder and the default cloud-backed AI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769F7-68DD-4105-A866-9C77B9A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1AA7E-54A7-4F84-A02E-5071E33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166D4-935A-45AD-9554-0EE69AA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12062-956F-430F-9223-DB85325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Role reveal and private briefing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6DDB5-AF9E-40C0-AD7F-A16E4EE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576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selected role card exposes goals, constraints, and negotiation posture.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683E5-FCA0-4FBC-9B11-6A28A18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F06FE-A152-48F2-A259-6FF8FBB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955C8-579E-4415-B76E-B12713D8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7C358-109E-42B8-BA57-BC0AA40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Opening statements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7FB1E-F9D5-4BF3-9C45-738745C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Each stakeholder sets an initial position and establishes bargaining tone.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D8467-74C6-4AEF-A302-662CD8E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30008-6745-4973-92C1-F589124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78435-EAE3-4654-B4A6-74E359F8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33242-1887-42EB-8539-B4274B8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Proposal building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E0F31-7870-4AD8-9A4C-6C48FC85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530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Actors negotiate dimensions, suggest amendments, and react to changes.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6AE5E-AEE1-461C-9C61-554048C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A5369-4959-4719-9BBA-696129F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29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4B98A-C785-45DD-B723-C884678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E564F-1E4F-476A-B1AF-AF8CACD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Final vote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61E7B-D4A3-4894-ADDE-A4AF1D94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530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Support or resistance becomes explicit once a near-final proposal exists.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DFE335-13BB-4229-9E2B-2320159C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3619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0F788-29EE-4F1F-9DFF-FE2BD3F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29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D3700-843F-46FF-B68F-93F6805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054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47C003-E762-4C2E-97A6-557DEF6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292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Outcome and debrief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7250B-A654-45CE-8EE8-9D3D680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530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game resolves the outcome and exports a structured negotiation trace.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4F835-9C9F-430E-A00E-D66C60F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game is now playable end-to-end with cloud AI calls; the current focus is fluency, clarity, and educational quality.</a:t>
            </a:r>
          </a:p>
        </p:txBody>
      </p:sp>
    </p:spTree>
    <p:extLst>
      <p:ext uri="{BB962C8B-B14F-4D97-AF65-F5344CB8AC3E}">
        <p14:creationId xmlns:p14="http://schemas.microsoft.com/office/powerpoint/2010/main" val="675123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2B70B-1F5A-4462-9336-501D3CF8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042E0-B509-4EBB-82C7-E422F96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FA7FC-45CC-4CF0-8497-65AFE8C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028E4-7D98-4974-AA39-900F3CE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4BEC7-B48D-4E50-8389-7D390CB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A1947-2995-4AD0-AA0E-2E0B99D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8C786-96FA-4609-B4B2-B7633FF6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D9EA0-34C3-4784-A5DC-958148C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6195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2443C-116F-40AE-B48F-5985F5C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619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0B8A5-1E7E-439E-AB15-D535F7F9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Technical reliability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E617A-CA6F-459A-A816-C8841115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3200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End-to-end playthrough stability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Robust handling of malformed model outputs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Repeatable multi-run smoke tests with cloud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34185-3ED2-4530-A989-6C39B3A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36195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D3DF5-C784-46EC-8E0B-4B55975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3619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0306D-6549-4F9E-A1EA-72E3333E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Negotiation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D5BF1-177A-4C00-AB73-F9C9BE6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09950"/>
            <a:ext cx="3200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Coherence of stakeholder behavior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Proposal relevance to stakeholder positions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Visible agreement and disagreement dynamics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Credibility of voting and outcomes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C445D-2FD2-4B28-B8D5-9E7745AE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3048000" cy="31242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08BD3-464D-4F24-86BC-34D03460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3048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D65B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380A8-862A-400F-95D5-3BB0A063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Educational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232A1-ADD3-4CE8-B6C0-A3ACDB96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2628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Makes tradeoffs legible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Encourages perspective-taking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Shows how governance, private incentives, and community concerns interact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5048A-BD67-4C1B-BD7C-2240C39D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Evaluation should measure not only model output quality, but whether the game teaches negotiation under real-world constraints.</a:t>
            </a:r>
          </a:p>
        </p:txBody>
      </p:sp>
    </p:spTree>
    <p:extLst>
      <p:ext uri="{BB962C8B-B14F-4D97-AF65-F5344CB8AC3E}">
        <p14:creationId xmlns:p14="http://schemas.microsoft.com/office/powerpoint/2010/main" val="10463400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51671-A3C9-4758-BC69-9E18140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A45C3-8175-44F6-BED1-E18DE991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2829-3A9F-4FD3-ACE9-6AC5736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2A97-2651-4FD9-98A2-2A44772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C4217-1588-430A-82D7-4CF04919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37B81-C179-4E92-A40C-4BA41C3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C405C-419C-4B39-B3DF-4273657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1F571-C0B5-4245-A336-1104F89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429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B335E-7648-4D77-A262-364A3C65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7F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3FCA2-F01C-4ADD-89B0-8CF40CF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98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83935-AE1C-471A-AB7A-AC9F5C1C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Stabilize the live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2BBBB-BC80-45C7-AA91-EA97CB1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3048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Continue full-play testing with cloud AI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Remove remaining UX friction in transitions and feedback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Make backend and cloud status explicit inside the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35D67-6A97-4F56-9BCE-485C0E10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429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BD943-983B-43DD-8C52-16F770E4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A9A93"/>
          </a:solidFill>
          <a:ln xmlns:a="http://schemas.openxmlformats.org/drawingml/2006/main" w="9525">
            <a:solidFill>
              <a:srgbClr val="3A9A9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FBE8D-132A-4085-A44B-F9D92B29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0E04E-5B43-4B86-9711-7762E067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Improve negotiation clarity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9D5D6-565C-441F-823E-5AD7D8E7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3048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Improve agreement and disagreement visibility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Make proposals reflect actual negotiated outcomes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Simplify the opening interaction design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Refine vote-readiness and satisfaction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15164-174B-4450-A470-0BA661D6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3429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A09F2-4E53-419A-B5E9-C9697C54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A340"/>
          </a:solidFill>
          <a:ln xmlns:a="http://schemas.openxmlformats.org/drawingml/2006/main" w="9525">
            <a:solidFill>
              <a:srgbClr val="E0A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177D9-3832-48FB-8A90-635286C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D590F-BC2D-485C-8FC5-52082EC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2B2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2B25"/>
                </a:solidFill>
                <a:latin typeface="Aptos"/>
                <a:ea typeface="Aptos"/>
                <a:cs typeface="Aptos"/>
              </a:rPr>
              <a:t>Prepare for scale and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3B341-D011-4809-9636-E4DBDEF3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71900"/>
            <a:ext cx="3048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Add stronger documentation and limitations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Prepare robust cloud deployment defaults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Improve traceability, replay, and post-game analytics</a:t>
            </a:r>
          </a:p>
          <a:p xmlns:a="http://schemas.openxmlformats.org/drawingml/2006/main">
            <a:pPr algn="l">
              <a:defRPr sz="12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• Package the game as a reusable educational artifact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08EB-FB3F-4FDC-A35A-F978D31C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047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6B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A6B66"/>
                </a:solidFill>
                <a:latin typeface="Aptos"/>
                <a:ea typeface="Aptos"/>
                <a:cs typeface="Aptos"/>
              </a:rPr>
              <a:t>The core loop works; the next phase is about turning a functioning prototype into a fluent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1799930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11DBE-0E3A-490C-8ED1-1CA559C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ACD32-B6A7-492A-A0EA-83FBC8F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333500" cy="23431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F7F3D"/>
          </a:solidFill>
          <a:ln xmlns:a="http://schemas.openxmlformats.org/drawingml/2006/main" w="9525">
            <a:solidFill>
              <a:srgbClr val="3F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0A432-8CDA-4F08-A069-064ABA8B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8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2D29-D21B-4EE8-8621-68E5C191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38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7F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F7F3D"/>
                </a:solidFill>
                <a:latin typeface="Aptos"/>
                <a:ea typeface="Aptos"/>
                <a:cs typeface="Aptos"/>
              </a:rPr>
              <a:t>USI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CE893-7987-4B0E-8AD7-4CFF57CD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5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eawag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1CB82-C245-40DB-848C-B29C445B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43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aquatic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20101-8EEE-4034-8126-675B6A7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990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  <a:p xmlns:a="http://schemas.openxmlformats.org/drawingml/2006/main">
            <a:pPr algn="l">
              <a:def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very</a:t>
            </a:r>
          </a:p>
          <a:p xmlns:a="http://schemas.openxmlformats.org/drawingml/2006/main">
            <a:pPr algn="l">
              <a:def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0">
                <a:solidFill>
                  <a:srgbClr val="5D4037"/>
                </a:solidFill>
                <a:latin typeface="Aptos Display"/>
                <a:ea typeface="Aptos Display"/>
                <a:cs typeface="Aptos Display"/>
              </a:rPr>
              <a:t>much!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CD73B-C92D-4D5F-AC9A-F4417A6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4095750" cy="55054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294A32"/>
          </a:solidFill>
          <a:ln xmlns:a="http://schemas.openxmlformats.org/drawingml/2006/main" w="9525">
            <a:solidFill>
              <a:srgbClr val="294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8A195-2553-4147-A9D3-0DAAFB6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14400"/>
            <a:ext cx="3829050" cy="52387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B3525"/>
          </a:solidFill>
          <a:ln xmlns:a="http://schemas.openxmlformats.org/drawingml/2006/main" w="9525">
            <a:solidFill>
              <a:srgbClr val="1B35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4F7CD-9443-4AFE-916D-A18A0D8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04900"/>
            <a:ext cx="123825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8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A4758-4035-4C2C-9D83-4551B301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219200"/>
            <a:ext cx="148590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31742-590C-4C33-8B55-09EA1E2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524000"/>
            <a:ext cx="10287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C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66F4-28C1-4834-B650-B8C9C54C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156210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2E2BE-90EC-4A74-BCCB-BA69E728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14600"/>
            <a:ext cx="12382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86949-7988-4794-92DE-37B4FF5E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57600"/>
            <a:ext cx="169545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5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B7C46-24BD-47F6-82A6-CA4F2AE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0"/>
            <a:ext cx="8382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F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65411-F1B7-4F3F-A8A1-81EAD917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13716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4EFAD-F560-45B2-BF8B-BB5AFA0F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14900"/>
            <a:ext cx="16192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9BEB7-0CFE-471A-8BA4-F0DAF29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324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1D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1D6"/>
                </a:solidFill>
                <a:latin typeface="Aptos"/>
                <a:ea typeface="Aptos"/>
                <a:cs typeface="Aptos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596555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2026-05-25T09:33:39.2580000Z</dcterms:created>
  <dcterms:modified xsi:type="dcterms:W3CDTF">2026-05-25T09:33:39.2580000Z</dcterms:modified>
</coreProperties>
</file>