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94fdc092784167" /><Relationship Type="http://schemas.openxmlformats.org/officeDocument/2006/relationships/extended-properties" Target="/docProps/app.xml" Id="R4080cf7e3a65452e" /><Relationship Type="http://schemas.openxmlformats.org/officeDocument/2006/relationships/officeDocument" Target="/ppt/presentation.xml" Id="R29e06bd3c59441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6b123b6a32429b"/>
  </p:sldMasterIdLst>
  <p:notesMasterIdLst>
    <p:notesMasterId xmlns:r="http://schemas.openxmlformats.org/officeDocument/2006/relationships" r:id="R5618dac3e056402a"/>
  </p:notesMasterIdLst>
  <p:sldIdLst>
    <p:sldId xmlns:r="http://schemas.openxmlformats.org/officeDocument/2006/relationships" id="256" r:id="Rf3ee06cb304b49e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b123b6a32429b" /><Relationship Type="http://schemas.openxmlformats.org/officeDocument/2006/relationships/theme" Target="/ppt/theme/theme1.xml" Id="Rf08c73c6f31d4575" /><Relationship Type="http://schemas.openxmlformats.org/officeDocument/2006/relationships/notesMaster" Target="/ppt/notesMasters/notesMaster1.xml" Id="R5618dac3e056402a" /><Relationship Type="http://schemas.openxmlformats.org/officeDocument/2006/relationships/presProps" Target="/ppt/presProps.xml" Id="R29fac8c3236248aa" /><Relationship Type="http://schemas.openxmlformats.org/officeDocument/2006/relationships/viewProps" Target="/ppt/viewProps.xml" Id="R2087eccd69894056" /><Relationship Type="http://schemas.openxmlformats.org/officeDocument/2006/relationships/tableStyles" Target="/ppt/tableStyles.xml" Id="Ref92b97f848d4d18" /><Relationship Type="http://schemas.openxmlformats.org/officeDocument/2006/relationships/slide" Target="/ppt/slides/slide1.xml" Id="Rf3ee06cb304b49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d40248f3e7a44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b47c80ecf04bde" /><Relationship Type="http://schemas.openxmlformats.org/officeDocument/2006/relationships/notesMaster" Target="/ppt/notesMasters/notesMaster1.xml" Id="R42d58e9a87c247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f4009e0ce459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767d9bbf50f4f66" /><Relationship Type="http://schemas.openxmlformats.org/officeDocument/2006/relationships/slideLayout" Target="/ppt/slideLayouts/slideLayout2.xml" Id="Rd391a6bdb61d44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91a6bdb61d44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782238a9a64e9c" /><Relationship Type="http://schemas.openxmlformats.org/officeDocument/2006/relationships/notesSlide" Target="/ppt/notesSlides/notesSlide1.xml" Id="Rb9bcd555f0a54d6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8FD00A-F4D9-4310-908E-D73627DB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FF730-25E8-40AE-AE97-4FC58173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1333500" cy="23431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3F2B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830C2-E412-4B0A-BCA7-D16F765E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28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31E38-E68F-4FCE-B39A-A2DBB323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381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F7F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F7F3D"/>
                </a:solidFill>
                <a:latin typeface="Aptos"/>
                <a:ea typeface="Aptos"/>
                <a:cs typeface="Aptos"/>
              </a:rPr>
              <a:t>USI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F2073-5BEB-426F-AC14-44DCB3F0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657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eawag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4DBD3-5014-4B20-A465-C4C0BED3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943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aquatic 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BC43A-41F2-47C9-A92B-D31CC482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rPr>
              <a:t>6 Stakeholders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A024A-48F3-4433-8BFC-F0563F4A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3525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D40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D4037"/>
                </a:solidFill>
                <a:latin typeface="Aptos"/>
                <a:ea typeface="Aptos"/>
                <a:cs typeface="Aptos"/>
              </a:rPr>
              <a:t>ROLE SCRIPTS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5F1D7-8A9D-4230-AC44-9F800CBC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009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Each card captures what the stakeholder wants, the pressure they bring into the room, and the line they will defend if challenged.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96C35-24D1-44C4-8CF4-8F16E2F5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FA438-3790-46A8-826D-D6088247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143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9A93"/>
          </a:solidFill>
          <a:ln xmlns:a="http://schemas.openxmlformats.org/drawingml/2006/main" w="9525">
            <a:solidFill>
              <a:srgbClr val="3A9A9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1CCE1-7FBB-449E-9565-B69BDF1A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441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National Government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7022B-AB9F-4516-8D36-B2E56B9B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Urgency + political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301C1-6317-4518-89CA-A5742F91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Restore waste operations quickly.</a:t>
            </a:r>
          </a:p>
          <a:p xmlns:a="http://schemas.openxmlformats.org/drawingml/2006/main">
            <a:pPr algn="l">
              <a:defRPr sz="9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Keep the deal politically defensible.</a:t>
            </a:r>
          </a:p>
          <a:p xmlns:a="http://schemas.openxmlformats.org/drawingml/2006/main">
            <a:pPr algn="l">
              <a:defRPr sz="9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Reject open-ended national liability.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5B175-2041-4527-B434-390E97AC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093EA-4844-4291-A6E9-CA1BC96C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1143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9A93"/>
          </a:solidFill>
          <a:ln xmlns:a="http://schemas.openxmlformats.org/drawingml/2006/main" w="9525">
            <a:solidFill>
              <a:srgbClr val="3A9A9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1457DC-4A54-4187-B077-6A136DAF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41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Municipal Government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BC6E0C-3661-4102-B16A-3172D413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Operational realism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AB25C-1FBC-4A0B-966D-1E63F7B8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Demand implementable timelines.</a:t>
            </a:r>
          </a:p>
          <a:p xmlns:a="http://schemas.openxmlformats.org/drawingml/2006/main">
            <a:pPr algn="l">
              <a:defRPr sz="9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Push for named funding sources.</a:t>
            </a:r>
          </a:p>
          <a:p xmlns:a="http://schemas.openxmlformats.org/drawingml/2006/main">
            <a:pPr algn="l">
              <a:defRPr sz="9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Reject unfunded municipal obligations.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65707F-35BF-42CB-BE7F-8D606A52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31BE1-512C-46AC-AA4B-05699ABB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1143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A340"/>
          </a:solidFill>
          <a:ln xmlns:a="http://schemas.openxmlformats.org/drawingml/2006/main" w="9525">
            <a:solidFill>
              <a:srgbClr val="E0A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C31CB8-040B-4F2D-9AED-91D284F5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441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Private Sector Company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A0C5B0-E5BF-4060-9896-41957082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Commercial viability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90BB0-5727-420C-8E77-15FE9404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Push for a stable long-term framework.</a:t>
            </a:r>
          </a:p>
          <a:p xmlns:a="http://schemas.openxmlformats.org/drawingml/2006/main">
            <a:pPr algn="l">
              <a:defRPr sz="9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Defend predictability for investment.</a:t>
            </a:r>
          </a:p>
          <a:p xmlns:a="http://schemas.openxmlformats.org/drawingml/2006/main">
            <a:pPr algn="l">
              <a:defRPr sz="9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Reject liability for historic contamination.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5B790E-07EF-45CB-BE6F-772610C2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7665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73B3BF-372D-42AC-8641-015F6E1B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76650"/>
            <a:ext cx="1143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A340"/>
          </a:solidFill>
          <a:ln xmlns:a="http://schemas.openxmlformats.org/drawingml/2006/main" w="9525">
            <a:solidFill>
              <a:srgbClr val="E0A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3CEF44-B404-483C-B7B5-FC3C0718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441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NGO / Civil Society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815EE5-D475-4D23-9D11-5A38F013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7670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Monitoring + enforcement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A68330-CA3D-4D1D-95D6-5FB29027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24350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Demand independent oversight.</a:t>
            </a:r>
          </a:p>
          <a:p xmlns:a="http://schemas.openxmlformats.org/drawingml/2006/main">
            <a:pPr algn="l">
              <a:defRPr sz="9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Insist on public reporting and escalation.</a:t>
            </a:r>
          </a:p>
          <a:p xmlns:a="http://schemas.openxmlformats.org/drawingml/2006/main">
            <a:pPr algn="l">
              <a:defRPr sz="9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Reject vague or symbolic commitments.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B8B0A4-DB81-4E45-A51D-89EF6017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F91F99-3109-475E-83F3-08C883F1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143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5B54"/>
          </a:solidFill>
          <a:ln xmlns:a="http://schemas.openxmlformats.org/drawingml/2006/main" w="9525">
            <a:solidFill>
              <a:srgbClr val="D65B5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C0E7A0-4BB4-4D03-B159-1E107A42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95900"/>
            <a:ext cx="441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Community Leader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1DD8FB-C932-4A77-9E83-6F37C3AA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4355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Health + closure path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7C6906-9A7D-4BAB-80B4-DBF6BF86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91200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Demand protection and acknowledgement of harm.</a:t>
            </a:r>
          </a:p>
          <a:p xmlns:a="http://schemas.openxmlformats.org/drawingml/2006/main">
            <a:pPr algn="l">
              <a:defRPr sz="9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Insist on a real closure pathway.</a:t>
            </a:r>
          </a:p>
          <a:p xmlns:a="http://schemas.openxmlformats.org/drawingml/2006/main">
            <a:pPr algn="l">
              <a:defRPr sz="9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Reject compensation without safeguards.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3205F0-C9F2-45E3-A5C6-80F304CB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435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10ED25-361D-4D0B-B5A0-42F6CC41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43500"/>
            <a:ext cx="1143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5B54"/>
          </a:solidFill>
          <a:ln xmlns:a="http://schemas.openxmlformats.org/drawingml/2006/main" w="9525">
            <a:solidFill>
              <a:srgbClr val="D65B5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874A9B-A5FF-4C3F-A194-B079F659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95900"/>
            <a:ext cx="441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Informal Sector Worker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90B963-BE9E-47DE-91A7-AD00CA04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4355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Livelihood protection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C468E7-5576-48DF-B46D-9AAA0DCB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791200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Defend worker recognition and inclusion.</a:t>
            </a:r>
          </a:p>
          <a:p xmlns:a="http://schemas.openxmlformats.org/drawingml/2006/main">
            <a:pPr algn="l">
              <a:defRPr sz="9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Demand concrete transition support.</a:t>
            </a:r>
          </a:p>
          <a:p xmlns:a="http://schemas.openxmlformats.org/drawingml/2006/main">
            <a:pPr algn="l">
              <a:defRPr sz="9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Reject modernization through exclusion.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E1DF60-B1F8-4EF8-ACD1-1709A6B5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96050"/>
            <a:ext cx="1047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Use this slide as a live facilitation aid: each stakeholder should repeat their core demand, defend their red line, and react to the proposal from their role perspective.</a:t>
            </a:r>
          </a:p>
        </p:txBody>
      </p:sp>
    </p:spTree>
    <p:extLst>
      <p:ext uri="{BB962C8B-B14F-4D97-AF65-F5344CB8AC3E}">
        <p14:creationId xmlns:p14="http://schemas.microsoft.com/office/powerpoint/2010/main" val="1251390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2026-05-25T10:11:57.5030000Z</dcterms:created>
  <dcterms:modified xsi:type="dcterms:W3CDTF">2026-05-25T10:11:57.5030000Z</dcterms:modified>
</coreProperties>
</file>